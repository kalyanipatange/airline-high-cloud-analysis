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59" r:id="rId1"/>
  </p:sldMasterIdLst>
  <p:notesMasterIdLst>
    <p:notesMasterId r:id="rId16"/>
  </p:notesMasterIdLst>
  <p:sldIdLst>
    <p:sldId id="273" r:id="rId2"/>
    <p:sldId id="257" r:id="rId3"/>
    <p:sldId id="258" r:id="rId4"/>
    <p:sldId id="259" r:id="rId5"/>
    <p:sldId id="269" r:id="rId6"/>
    <p:sldId id="270" r:id="rId7"/>
    <p:sldId id="262" r:id="rId8"/>
    <p:sldId id="263" r:id="rId9"/>
    <p:sldId id="260" r:id="rId10"/>
    <p:sldId id="271" r:id="rId11"/>
    <p:sldId id="261" r:id="rId12"/>
    <p:sldId id="274" r:id="rId13"/>
    <p:sldId id="266" r:id="rId14"/>
    <p:sldId id="267" r:id="rId15"/>
  </p:sldIdLst>
  <p:sldSz cx="12192000" cy="6858000"/>
  <p:notesSz cx="6858000" cy="9144000"/>
  <p:embeddedFontLst>
    <p:embeddedFont>
      <p:font typeface="Aharoni" panose="02010803020104030203" pitchFamily="2" charset="-79"/>
      <p:bold r:id="rId17"/>
    </p:embeddedFon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Tw Cen MT" panose="020B0602020104020603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h1iEnIg5HlzufpBGphV/xxN1aG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964859BA-5D0C-EEC7-0C06-6984068F0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25e6daae9_0_0:notes">
            <a:extLst>
              <a:ext uri="{FF2B5EF4-FFF2-40B4-BE49-F238E27FC236}">
                <a16:creationId xmlns:a16="http://schemas.microsoft.com/office/drawing/2014/main" id="{77267FF0-953A-6A64-79C9-90DDFB4690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d25e6daae9_0_0:notes">
            <a:extLst>
              <a:ext uri="{FF2B5EF4-FFF2-40B4-BE49-F238E27FC236}">
                <a16:creationId xmlns:a16="http://schemas.microsoft.com/office/drawing/2014/main" id="{DF421816-7D43-CC11-7DC9-3D439AC4B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010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25e6daae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d25e6daae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8" name="Google Shape;18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5765BF36-3980-AF31-A8D8-F9458329D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>
            <a:extLst>
              <a:ext uri="{FF2B5EF4-FFF2-40B4-BE49-F238E27FC236}">
                <a16:creationId xmlns:a16="http://schemas.microsoft.com/office/drawing/2014/main" id="{CF88996D-20D2-3ABF-9E47-691C4DB55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4:notes">
            <a:extLst>
              <a:ext uri="{FF2B5EF4-FFF2-40B4-BE49-F238E27FC236}">
                <a16:creationId xmlns:a16="http://schemas.microsoft.com/office/drawing/2014/main" id="{9F58CDB7-FBD6-B29C-F4B5-93476E044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915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921AEFC3-B024-86F7-4888-C3492D1CE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>
            <a:extLst>
              <a:ext uri="{FF2B5EF4-FFF2-40B4-BE49-F238E27FC236}">
                <a16:creationId xmlns:a16="http://schemas.microsoft.com/office/drawing/2014/main" id="{673E0F42-610E-2A6B-650F-05308ED564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5:notes">
            <a:extLst>
              <a:ext uri="{FF2B5EF4-FFF2-40B4-BE49-F238E27FC236}">
                <a16:creationId xmlns:a16="http://schemas.microsoft.com/office/drawing/2014/main" id="{9F84A0AC-DE33-CCF1-1467-10B5317081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523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54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8158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48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502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759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11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801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1500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9666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99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9335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961156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0776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443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06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0998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332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57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4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  <p:sldLayoutId id="2147483777" r:id="rId18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362FF50B-ACA0-D85B-6FF0-80145EB2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25e6daae9_0_0">
            <a:extLst>
              <a:ext uri="{FF2B5EF4-FFF2-40B4-BE49-F238E27FC236}">
                <a16:creationId xmlns:a16="http://schemas.microsoft.com/office/drawing/2014/main" id="{A3080595-84CC-F219-B172-36EAEBDF3D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5738" y="194727"/>
            <a:ext cx="8911800" cy="5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rgbClr val="C00000"/>
              </a:buClr>
              <a:buSzPct val="100000"/>
            </a:pPr>
            <a:r>
              <a:rPr lang="en-US" sz="4400" b="1" u="sng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Airline High Cloud Analysis</a:t>
            </a:r>
            <a:br>
              <a:rPr lang="en-US" sz="4400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</a:br>
            <a:br>
              <a:rPr lang="en-US" sz="4400" dirty="0">
                <a:latin typeface="Aharoni"/>
                <a:ea typeface="Aharoni"/>
                <a:cs typeface="Aharoni"/>
                <a:sym typeface="Aharoni"/>
              </a:rPr>
            </a:br>
            <a:endParaRPr sz="4400" dirty="0"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85" name="Google Shape;185;g3d25e6daae9_0_0">
            <a:extLst>
              <a:ext uri="{FF2B5EF4-FFF2-40B4-BE49-F238E27FC236}">
                <a16:creationId xmlns:a16="http://schemas.microsoft.com/office/drawing/2014/main" id="{65F1B4DB-C349-73D5-B4CB-94D7A8A53C85}"/>
              </a:ext>
            </a:extLst>
          </p:cNvPr>
          <p:cNvSpPr txBox="1"/>
          <p:nvPr/>
        </p:nvSpPr>
        <p:spPr>
          <a:xfrm>
            <a:off x="462704" y="1867993"/>
            <a:ext cx="7939800" cy="466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Observations-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Passengers =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187.02M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Available Seats =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244M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~57M seats remain unfilled.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Flights: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111K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Departures: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2.80M</a:t>
            </a: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marL="1143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Departures are significantly higher than flights</a:t>
            </a:r>
          </a:p>
          <a:p>
            <a:pPr marL="1143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(indicating multiple segments or legs per journey)</a:t>
            </a:r>
          </a:p>
          <a:p>
            <a:pPr marL="114300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285750" marR="0" lvl="0" indent="-171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dirty="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BF52E8-4A2E-8708-5F6A-867F2B8BF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59" y="1743757"/>
            <a:ext cx="4605753" cy="369532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2">
                <a:lumMod val="90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perspectiveLef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12451593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"/>
          <p:cNvSpPr txBox="1">
            <a:spLocks noGrp="1"/>
          </p:cNvSpPr>
          <p:nvPr>
            <p:ph type="title"/>
          </p:nvPr>
        </p:nvSpPr>
        <p:spPr>
          <a:xfrm>
            <a:off x="600761" y="246580"/>
            <a:ext cx="10698367" cy="821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KPI 1- Date field </a:t>
            </a:r>
            <a:b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b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893852" y="3429000"/>
            <a:ext cx="3770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2" name="Google Shape;172;p2"/>
          <p:cNvSpPr txBox="1"/>
          <p:nvPr/>
        </p:nvSpPr>
        <p:spPr>
          <a:xfrm>
            <a:off x="687388" y="1068512"/>
            <a:ext cx="10191963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u="sng" dirty="0"/>
              <a:t>We have extracted below fields:</a:t>
            </a:r>
            <a:endParaRPr lang="en-US" sz="1600" b="1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Year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(for annual summaries)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Quarter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( Seasonal Analysis)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Month Name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Weekday name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Weekday No.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Type Of Day (Operational Insights)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Observations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1. Seasonality - 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Passenger traffic peaks in holiday months (e.g., December, summer vacation)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2.Operational Trends - 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Delays may cluster on certain weekdays (e.g.,     Mondays due to business travel congestion)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3 Growth -  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Year-over-year comparison highlights growth in passenger count or revenue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Century Gothic"/>
              <a:cs typeface="Times New Roman" panose="02020603050405020304" pitchFamily="18" charset="0"/>
              <a:sym typeface="Century Gothic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 Insights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Century Gothic"/>
              <a:cs typeface="Times New Roman" panose="02020603050405020304" pitchFamily="18" charset="0"/>
              <a:sym typeface="Century Gothic"/>
            </a:endParaRP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Management can plan dynamic pricing and capacity allocation to maximize profit during high-demand periods and reduce losses in low-demand months.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If delays cluster on Mondays, it may indicate airport congestion or crew scheduling issues. Airlines can adjust staffing or flight slots to improve punctuality.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1714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85750" marR="0" lvl="0" indent="-1714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"/>
          <p:cNvSpPr txBox="1">
            <a:spLocks noGrp="1"/>
          </p:cNvSpPr>
          <p:nvPr>
            <p:ph type="title"/>
          </p:nvPr>
        </p:nvSpPr>
        <p:spPr>
          <a:xfrm>
            <a:off x="2592925" y="123291"/>
            <a:ext cx="8911687" cy="54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entury Gothic"/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KPI-2 –Yearly , Monthly and Quartey Load factor %</a:t>
            </a:r>
            <a:br>
              <a:rPr lang="en-US" sz="2700" b="1" dirty="0">
                <a:solidFill>
                  <a:srgbClr val="C00000"/>
                </a:solidFill>
              </a:rPr>
            </a:br>
            <a:br>
              <a:rPr lang="en-US" sz="1800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</a:br>
            <a:br>
              <a:rPr lang="en-US" sz="1800" dirty="0">
                <a:latin typeface="Aharoni"/>
                <a:ea typeface="Aharoni"/>
                <a:cs typeface="Aharoni"/>
                <a:sym typeface="Aharoni"/>
              </a:rPr>
            </a:br>
            <a:endParaRPr sz="1800" dirty="0"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78" name="Google Shape;178;p3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8455742" y="1491908"/>
            <a:ext cx="2932514" cy="354220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bg2">
                <a:lumMod val="75000"/>
              </a:schemeClr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perspectiveLef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79" name="Google Shape;179;p3"/>
          <p:cNvSpPr txBox="1"/>
          <p:nvPr/>
        </p:nvSpPr>
        <p:spPr>
          <a:xfrm>
            <a:off x="606871" y="1385577"/>
            <a:ext cx="6441897" cy="467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Yearly / Monthly and Quarterly  Load Factor</a:t>
            </a:r>
            <a:b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- Observation: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haroni"/>
                <a:cs typeface="Times New Roman" panose="02020603050405020304" pitchFamily="18" charset="0"/>
                <a:sym typeface="Aharoni"/>
              </a:rPr>
              <a:t> 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Load factor tends to rise year-over-year if demand grows faster than capacity.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Some years show dips due to external shocks (economic downturns, pandemics, fuel price hikes).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Q2 and Q4 often show higher load factors due to summer holidays and year-end travel.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Q1 may show lower load factors (post-holiday slump).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Peak months (December, June, July) show high load factors due to leisure travel.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Insights: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Airlines can adjust seasonal pricing strategies — e.g., premium pricing in Q2/Q4, discounts in Q1.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Quarterly analysis helps in crew scheduling, maintenance planning, and marketing campaigns.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Airlines can run targeted promotions in low-demand months and maximize revenue in peak months with dynamic pricing.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dirty="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25e6daae9_0_0"/>
          <p:cNvSpPr txBox="1">
            <a:spLocks noGrp="1"/>
          </p:cNvSpPr>
          <p:nvPr>
            <p:ph type="title"/>
          </p:nvPr>
        </p:nvSpPr>
        <p:spPr>
          <a:xfrm>
            <a:off x="1363893" y="112150"/>
            <a:ext cx="8911800" cy="5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entury Gothic"/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KPI-3 – Load Factor % by Carrier</a:t>
            </a:r>
            <a:br>
              <a:rPr lang="en-US" sz="1800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</a:br>
            <a:br>
              <a:rPr lang="en-US" sz="1800" dirty="0">
                <a:latin typeface="Aharoni"/>
                <a:ea typeface="Aharoni"/>
                <a:cs typeface="Aharoni"/>
                <a:sym typeface="Aharoni"/>
              </a:rPr>
            </a:br>
            <a:endParaRPr sz="1800" dirty="0"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85" name="Google Shape;185;g3d25e6daae9_0_0"/>
          <p:cNvSpPr txBox="1"/>
          <p:nvPr/>
        </p:nvSpPr>
        <p:spPr>
          <a:xfrm>
            <a:off x="236563" y="1115125"/>
            <a:ext cx="6311722" cy="707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analyze airline performance using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Factor %</a:t>
            </a:r>
            <a:b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(Load Factor = Transported Passengers / Available Seats)</a:t>
            </a:r>
            <a:endParaRPr sz="1400" i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Load Factor:</a:t>
            </a:r>
            <a:b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Globespan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Airways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94.76%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(Best seat utilization)</a:t>
            </a: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Performing Carriers:</a:t>
            </a:r>
            <a:endParaRPr sz="14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Allegiant Air – 89.36%</a:t>
            </a: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XL Airways France – 88.48%</a:t>
            </a: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Sichuan Airlines – 88.21%</a:t>
            </a: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 Among Top 10:</a:t>
            </a:r>
            <a:endParaRPr sz="14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Jet Airways (India) – 83.47%</a:t>
            </a: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Average (Grand Total):</a:t>
            </a:r>
            <a:b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88.57%</a:t>
            </a:r>
          </a:p>
          <a:p>
            <a:pPr marL="152400"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carriers operate above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85% load factor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 demand and efficient capacity utilization</a:t>
            </a: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load factor =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revenue efficiency</a:t>
            </a:r>
            <a:endParaRPr sz="14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4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Globespan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significantly outperforms peers → potential benchmark</a:t>
            </a: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285750" marR="0" lvl="0" indent="-171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dirty="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6" name="Google Shape;186;g3d25e6daae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1409" y="3860650"/>
            <a:ext cx="3308549" cy="2333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7" name="Google Shape;187;g3d25e6daae9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9575" y="885887"/>
            <a:ext cx="5428849" cy="27532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2">
                <a:lumMod val="7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2AB03F-2A3B-006F-D9E1-A2E017B9A348}"/>
              </a:ext>
            </a:extLst>
          </p:cNvPr>
          <p:cNvSpPr txBox="1"/>
          <p:nvPr/>
        </p:nvSpPr>
        <p:spPr>
          <a:xfrm>
            <a:off x="3048000" y="366102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CBA694-2D6D-319F-2FD0-41AC98BA597E}"/>
              </a:ext>
            </a:extLst>
          </p:cNvPr>
          <p:cNvSpPr txBox="1"/>
          <p:nvPr/>
        </p:nvSpPr>
        <p:spPr>
          <a:xfrm>
            <a:off x="3048000" y="366102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>
            <a:spLocks noGrp="1"/>
          </p:cNvSpPr>
          <p:nvPr>
            <p:ph type="title"/>
          </p:nvPr>
        </p:nvSpPr>
        <p:spPr>
          <a:xfrm>
            <a:off x="2592925" y="123291"/>
            <a:ext cx="8911800" cy="5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wentieth Century"/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KPI-4 TOP 10 CARRIERS BASED ON PASSENGER PREFERENCE</a:t>
            </a:r>
            <a:br>
              <a:rPr lang="en-US" sz="1800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</a:br>
            <a:br>
              <a:rPr lang="en-US" sz="1800" dirty="0">
                <a:latin typeface="Aharoni"/>
                <a:ea typeface="Aharoni"/>
                <a:cs typeface="Aharoni"/>
                <a:sym typeface="Aharoni"/>
              </a:rPr>
            </a:br>
            <a:endParaRPr sz="1800" dirty="0"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423375" y="667800"/>
            <a:ext cx="7939800" cy="70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Objective: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To identify the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Top 10 Carrier Names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based on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Passenger Preference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using the metric</a:t>
            </a:r>
            <a:endParaRPr sz="1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Key Insights: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Analysis Type: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Ranking / Top 10 Carriers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Southwest Airlines Co.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is the highest preferred carrier with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336,498 departures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Delta Air Lines Inc.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is second with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217,702 departures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Top 3 carriers contribute a major share: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Southwest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Delta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SkyWest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📌 These airlines show higher operational presence and likely higher passenger preference.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Approach Used: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AutoNum type="arabicPeriod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Extract carrier-level flight data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AutoNum type="arabicPeriod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Group by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Carrier Name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AutoNum type="arabicPeriod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Calculate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Sum of Departures Performed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AutoNum type="arabicPeriod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Sort in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Descending Order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AutoNum type="arabicPeriod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Select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Top 10 Carriers</a:t>
            </a:r>
            <a:endParaRPr sz="14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Interpretation: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Based on the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Sum of Departures Performed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, the most preferred airline is: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🏆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Southwest Airlines Co. (336,498 departures)</a:t>
            </a:r>
            <a:endParaRPr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 Top 10 carriers together performed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1,495,930 departures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, indicating strong market dominance.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wentieth Century"/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Twentieth Century"/>
              <a:cs typeface="Times New Roman" panose="02020603050405020304" pitchFamily="18" charset="0"/>
              <a:sym typeface="Twentieth Century"/>
            </a:endParaRPr>
          </a:p>
          <a:p>
            <a:pPr marL="285750" marR="0" lvl="0" indent="-171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Aharoni"/>
              <a:cs typeface="Times New Roman" panose="02020603050405020304" pitchFamily="18" charset="0"/>
              <a:sym typeface="Aharon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None/>
            </a:pP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Century Gothic"/>
              <a:cs typeface="Times New Roman" panose="02020603050405020304" pitchFamily="18" charset="0"/>
              <a:sym typeface="Century Gothic"/>
            </a:endParaRPr>
          </a:p>
        </p:txBody>
      </p:sp>
      <p:pic>
        <p:nvPicPr>
          <p:cNvPr id="192" name="Google Shape;19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3917" y="3728727"/>
            <a:ext cx="4244708" cy="2461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23916" y="1352210"/>
            <a:ext cx="4244707" cy="2187130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>
            <a:spLocks noGrp="1"/>
          </p:cNvSpPr>
          <p:nvPr>
            <p:ph type="title"/>
          </p:nvPr>
        </p:nvSpPr>
        <p:spPr>
          <a:xfrm>
            <a:off x="2273947" y="-1"/>
            <a:ext cx="6774359" cy="52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74074"/>
              <a:buFont typeface="Twentieth Century"/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5  TOP 10 ROUTES BY NUMBER OF FLIGHTS</a:t>
            </a:r>
            <a:endParaRPr sz="1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Google Shape;199;p24"/>
          <p:cNvSpPr txBox="1">
            <a:spLocks noGrp="1"/>
          </p:cNvSpPr>
          <p:nvPr>
            <p:ph idx="1"/>
          </p:nvPr>
        </p:nvSpPr>
        <p:spPr>
          <a:xfrm>
            <a:off x="219740" y="526311"/>
            <a:ext cx="7614332" cy="6273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</a:t>
            </a: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Routes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</a:t>
            </a: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Flights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</a:p>
          <a:p>
            <a:pPr marL="1143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Metric. </a:t>
            </a: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Of Flights (Airline Count)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88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Type: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Ranking / Top 10 Routes</a:t>
            </a:r>
          </a:p>
          <a:p>
            <a:pPr marL="3388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Chicago, Il → Detroit, Mi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Busiest Route With </a:t>
            </a: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 Flights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388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Washington, Dc → New York, Ny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Second With </a:t>
            </a: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88 Flights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388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Washington, Dc → Atlanta, Ga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Ranks Third With </a:t>
            </a: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86 Flights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USED: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Route-level Flight Data 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Route Using Source → Destination 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</a:t>
            </a: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Of Flights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Data In </a:t>
            </a: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Descending Order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Routes</a:t>
            </a:r>
            <a:endParaRPr lang="en-US" sz="1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</a:t>
            </a: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Of Flights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Busiest Route Is:</a:t>
            </a:r>
            <a:b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🏆 </a:t>
            </a: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Chicago → Detroit (95 Flights)</a:t>
            </a:r>
            <a:endParaRPr lang="en-US" sz="1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Routes Together Contribute 896 Flights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</a:t>
            </a: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Air Traffic </a:t>
            </a:r>
          </a:p>
          <a:p>
            <a:pPr marL="1143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 Across Key City Routes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400" dirty="0"/>
          </a:p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400" dirty="0"/>
          </a:p>
        </p:txBody>
      </p:sp>
      <p:pic>
        <p:nvPicPr>
          <p:cNvPr id="200" name="Google Shape;20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6982" y="3486933"/>
            <a:ext cx="4906956" cy="3057952"/>
          </a:xfrm>
          <a:prstGeom prst="rect">
            <a:avLst/>
          </a:prstGeom>
          <a:ln w="190500" cap="sq">
            <a:solidFill>
              <a:schemeClr val="bg2">
                <a:lumMod val="90000"/>
              </a:schemeClr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201" name="Google Shape;201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7756" y="691116"/>
            <a:ext cx="4734504" cy="2541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95D78-0F99-D1C7-443E-5FE6913E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139" y="195210"/>
            <a:ext cx="9850473" cy="75157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6- load factor on Weekend vs Weekdays</a:t>
            </a:r>
            <a:r>
              <a:rPr lang="en-US" dirty="0">
                <a:solidFill>
                  <a:srgbClr val="C00000"/>
                </a:solidFill>
              </a:rPr>
              <a:t>.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500C0-1005-61B2-DBDB-A40E8F341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703" y="1026642"/>
            <a:ext cx="10366624" cy="607716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sz="17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r>
              <a:rPr lang="en-US" sz="17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</a:p>
          <a:p>
            <a:pPr marL="114300" indent="0">
              <a:buNone/>
            </a:pPr>
            <a:r>
              <a:rPr lang="en-IN" sz="15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Factor Is Almost Evenly Split:</a:t>
            </a:r>
          </a:p>
          <a:p>
            <a:pPr marL="114300" lvl="0" indent="0">
              <a:buNone/>
            </a:pPr>
            <a:r>
              <a:rPr lang="en-IN" sz="15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Weekend: 76.73%</a:t>
            </a:r>
          </a:p>
          <a:p>
            <a:pPr marL="114300" lvl="0" indent="0">
              <a:buNone/>
            </a:pPr>
            <a:r>
              <a:rPr lang="en-IN" sz="15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Weekday: 76.96%</a:t>
            </a:r>
          </a:p>
          <a:p>
            <a:pPr marL="114300" indent="0">
              <a:buNone/>
            </a:pPr>
            <a:r>
              <a:rPr lang="en-US" sz="15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Between Weekend And Weekday</a:t>
            </a:r>
          </a:p>
          <a:p>
            <a:pPr marL="114300" indent="0">
              <a:buNone/>
            </a:pPr>
            <a:r>
              <a:rPr lang="en-US" sz="15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Is </a:t>
            </a:r>
            <a:r>
              <a:rPr lang="en-US" sz="15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Minimal (0.23%)</a:t>
            </a:r>
            <a:r>
              <a:rPr lang="en-US" sz="15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IN" sz="1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Insights-</a:t>
            </a:r>
          </a:p>
          <a:p>
            <a:pPr marL="114300" indent="0">
              <a:buNone/>
            </a:pPr>
            <a:r>
              <a:rPr lang="en-IN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1.Balanced Demand Pattern-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airlines Are Experiencing </a:t>
            </a:r>
          </a:p>
          <a:p>
            <a:pPr marL="114300" indent="0">
              <a:buNone/>
            </a:pP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Occupancy Throughout The Week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Offer </a:t>
            </a: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Discounts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Shift Flexible Travelers.</a:t>
            </a:r>
          </a:p>
          <a:p>
            <a:pPr marL="114300" indent="0">
              <a:buNone/>
            </a:pP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Operational Planning Is </a:t>
            </a:r>
            <a:r>
              <a:rPr lang="en-US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Already Efficient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114300" indent="0">
              <a:buNone/>
            </a:pP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Fine-tuning Can Increase Profitability.</a:t>
            </a:r>
          </a:p>
          <a:p>
            <a:pPr marL="114300" indent="0">
              <a:buNone/>
            </a:pP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Airlines Can Introduce:</a:t>
            </a:r>
          </a:p>
          <a:p>
            <a:pPr marL="1143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pricing on peak weekday business hours.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4FEFF8-87C6-D852-49C8-27C2ABDF6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39897" y="946782"/>
            <a:ext cx="4464715" cy="50751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2">
                <a:lumMod val="75000"/>
              </a:schemeClr>
            </a:solidFill>
          </a:ln>
          <a:effectLst>
            <a:reflection blurRad="12700" stA="38000" endPos="28000" dist="5000" dir="5400000" sy="-100000" algn="bl" rotWithShape="0"/>
          </a:effectLst>
          <a:scene3d>
            <a:camera prst="isometricOffAxis2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979698440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23AE5-5E43-5AA8-7F7F-356948ACF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07" y="294120"/>
            <a:ext cx="10004585" cy="588241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7-number of flights based on Distance group</a:t>
            </a:r>
            <a:endParaRPr lang="en-IN" sz="1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1E822-76B9-FD22-29AD-263493863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7" y="714877"/>
            <a:ext cx="9203076" cy="60874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b="1" cap="none" dirty="0">
                <a:solidFill>
                  <a:srgbClr val="C00000"/>
                </a:solidFill>
              </a:rPr>
              <a:t>Observation</a:t>
            </a:r>
          </a:p>
          <a:p>
            <a:pPr marL="114300" indent="0">
              <a:buNone/>
            </a:pPr>
            <a:r>
              <a:rPr lang="en-IN" sz="19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Dominance Of Short-distance Flights</a:t>
            </a:r>
          </a:p>
          <a:p>
            <a:pPr marL="114300" indent="0">
              <a:buNone/>
            </a:pPr>
            <a:r>
              <a:rPr lang="en-US" sz="19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500 Miles: 58,047 Flights (Highest)</a:t>
            </a:r>
          </a:p>
          <a:p>
            <a:pPr marL="114300" indent="0">
              <a:buNone/>
            </a:pPr>
            <a:r>
              <a:rPr lang="en-US" sz="19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500–999 Miles: 28,131 Flights</a:t>
            </a:r>
          </a:p>
          <a:p>
            <a:pPr marL="114300" indent="0">
              <a:buNone/>
            </a:pPr>
            <a:r>
              <a:rPr lang="en-US" sz="19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Two Categories Alone Make Up The Majority Of </a:t>
            </a:r>
          </a:p>
          <a:p>
            <a:pPr marL="114300" indent="0">
              <a:buNone/>
            </a:pPr>
            <a:r>
              <a:rPr lang="en-US" sz="19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Flights </a:t>
            </a:r>
            <a:r>
              <a:rPr lang="en-US" sz="19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(~78%).</a:t>
            </a:r>
          </a:p>
          <a:p>
            <a:pPr marL="114300" indent="0">
              <a:buNone/>
            </a:pPr>
            <a:r>
              <a:rPr lang="en-US" sz="19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 Decline After 1000 Miles</a:t>
            </a:r>
          </a:p>
          <a:p>
            <a:pPr marL="114300" indent="0">
              <a:buNone/>
            </a:pPr>
            <a:r>
              <a:rPr lang="en-US" sz="19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1000–1499 Miles: 11,333 Flights</a:t>
            </a:r>
          </a:p>
          <a:p>
            <a:pPr marL="114300" indent="0">
              <a:buNone/>
            </a:pPr>
            <a:r>
              <a:rPr lang="en-US" sz="19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Flights = </a:t>
            </a:r>
            <a:r>
              <a:rPr lang="en-US" sz="19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110,849</a:t>
            </a:r>
          </a:p>
          <a:p>
            <a:pPr marL="114300" indent="0">
              <a:buNone/>
            </a:pPr>
            <a:br>
              <a:rPr lang="en-US" sz="19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b="1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</a:t>
            </a:r>
          </a:p>
          <a:p>
            <a:pPr marL="400050" indent="-285750"/>
            <a:r>
              <a:rPr lang="en-US" sz="18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 Drop As Distance Increases.</a:t>
            </a:r>
          </a:p>
          <a:p>
            <a:pPr marL="400050" indent="-285750"/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Strong Operational Scale But Skewed Toward Short Routes</a:t>
            </a:r>
            <a:endParaRPr lang="en-US" sz="1800" b="1" cap="none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285750"/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Airlines May Be Prioritizing </a:t>
            </a:r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Over Margin.</a:t>
            </a:r>
            <a:endParaRPr lang="en-IN" sz="1800" b="1" cap="none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285750"/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Airlines Are Heavily Focused On </a:t>
            </a:r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Short-haul Routes</a:t>
            </a:r>
            <a:endParaRPr lang="en-US" sz="1800" b="1" cap="none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14300" indent="0">
              <a:buNone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432D0-C204-E60B-6DFF-24D119AF6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559" y="714877"/>
            <a:ext cx="3113070" cy="583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571656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 txBox="1">
            <a:spLocks noGrp="1"/>
          </p:cNvSpPr>
          <p:nvPr>
            <p:ph type="title"/>
          </p:nvPr>
        </p:nvSpPr>
        <p:spPr>
          <a:xfrm flipV="1">
            <a:off x="844949" y="113530"/>
            <a:ext cx="10236007" cy="15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262626"/>
              </a:buClr>
              <a:buSzPts val="3600"/>
            </a:pPr>
            <a:b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pic>
        <p:nvPicPr>
          <p:cNvPr id="194" name="Google Shape;19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744471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7D73A199-0BC3-1798-F903-87C83CD75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E6C3A8-2112-A13C-D617-71A74A071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7" y="-71920"/>
            <a:ext cx="12099533" cy="692991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97916976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"/>
          <p:cNvSpPr txBox="1">
            <a:spLocks noGrp="1"/>
          </p:cNvSpPr>
          <p:nvPr>
            <p:ph type="title"/>
          </p:nvPr>
        </p:nvSpPr>
        <p:spPr>
          <a:xfrm>
            <a:off x="913775" y="382543"/>
            <a:ext cx="10196677" cy="44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</a:t>
            </a:r>
            <a:endParaRPr sz="1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2" name="Google Shape;20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2E9CCAC6-C368-378F-C82F-32B0CBD13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">
            <a:extLst>
              <a:ext uri="{FF2B5EF4-FFF2-40B4-BE49-F238E27FC236}">
                <a16:creationId xmlns:a16="http://schemas.microsoft.com/office/drawing/2014/main" id="{E8E15AC6-1F4C-DF13-8D9A-3334756A8A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5956" y="284220"/>
            <a:ext cx="10196677" cy="44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sz="1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E9E28B4-473A-9700-6B31-D0184B598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271" y="875071"/>
            <a:ext cx="11179277" cy="5810864"/>
          </a:xfrm>
        </p:spPr>
        <p:txBody>
          <a:bodyPr>
            <a:normAutofit fontScale="2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I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6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Underutilization Of Airline Capacity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Passengers = </a:t>
            </a:r>
            <a:r>
              <a:rPr lang="en-IN" sz="56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187.02M</a:t>
            </a:r>
            <a:r>
              <a:rPr lang="en-IN" sz="5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Total Available Seats = </a:t>
            </a:r>
            <a:r>
              <a:rPr lang="en-IN" sz="56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244M</a:t>
            </a:r>
            <a:br>
              <a:rPr lang="en-IN" sz="5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~57M Seats Remain Unfilled. </a:t>
            </a:r>
          </a:p>
          <a:p>
            <a:pPr marL="0" indent="0">
              <a:buNone/>
            </a:pPr>
            <a:r>
              <a:rPr lang="en-IN" sz="6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Declining Load Factor In Early Years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2008–2009 Shows Lower Load Factors (~75%)  And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 Improvement Reaching </a:t>
            </a:r>
            <a:r>
              <a:rPr lang="en-IN" sz="56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78.12% In 2013</a:t>
            </a:r>
            <a:r>
              <a:rPr lang="en-IN" sz="5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6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 In Flight Distribution By Distance</a:t>
            </a:r>
            <a:endParaRPr lang="en-IN" sz="6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5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Flights &lt;500 Miles = </a:t>
            </a:r>
            <a:r>
              <a:rPr lang="en-IN" sz="56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58,047 (Very High)</a:t>
            </a:r>
            <a:r>
              <a:rPr lang="en-IN" sz="5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Flights &gt;3000 Miles = Significantly Low </a:t>
            </a:r>
          </a:p>
          <a:p>
            <a:pPr marL="0" indent="0">
              <a:buNone/>
            </a:pPr>
            <a:r>
              <a:rPr lang="en-IN" sz="6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Uneven Performance Across Airlines</a:t>
            </a:r>
            <a:endParaRPr lang="en-IN" sz="6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5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Passengers: Southwest &amp; Delta And Highest Load Factor: Globespan Airways (~94.76%) </a:t>
            </a:r>
          </a:p>
          <a:p>
            <a:pPr marL="0" indent="0">
              <a:buNone/>
            </a:pPr>
            <a:r>
              <a:rPr lang="en-IN" sz="6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Concentration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Routes Dominate (E.G., Chicago–Detroit, Washington–Boston)</a:t>
            </a:r>
          </a:p>
          <a:p>
            <a:pPr marL="0" indent="0">
              <a:buNone/>
            </a:pPr>
            <a:r>
              <a:rPr lang="en-IN" sz="6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Load Factor Variability Across Airlines</a:t>
            </a:r>
            <a:endParaRPr lang="en-IN" sz="6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5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Factors Range From ~86% To ~95%, With </a:t>
            </a:r>
            <a:r>
              <a:rPr lang="en-IN" sz="56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Globespan Airways (~94.76%)</a:t>
            </a:r>
            <a:r>
              <a:rPr lang="en-IN" sz="5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Being The Highest.</a:t>
            </a:r>
          </a:p>
          <a:p>
            <a:pPr marL="0" indent="0">
              <a:buNone/>
            </a:pPr>
            <a:r>
              <a:rPr lang="en-IN" sz="6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 Vs Weekday Load Factor Balance</a:t>
            </a:r>
            <a:endParaRPr lang="en-IN" sz="6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5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Factor Is Almost Evenly Split: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Weekend: ~50.07% And Weekday: ~49.93%</a:t>
            </a:r>
          </a:p>
          <a:p>
            <a:endParaRPr lang="en-IN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marL="11430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7891906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3A839-39D6-0AA1-4837-4C7F61284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026" y="356982"/>
            <a:ext cx="9104671" cy="518089"/>
          </a:xfrm>
        </p:spPr>
        <p:txBody>
          <a:bodyPr>
            <a:normAutofit fontScale="90000"/>
          </a:bodyPr>
          <a:lstStyle/>
          <a:p>
            <a:b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Solution</a:t>
            </a:r>
            <a:br>
              <a:rPr lang="en-US" b="1" dirty="0">
                <a:solidFill>
                  <a:srgbClr val="C00000"/>
                </a:solidFill>
              </a:rPr>
            </a:b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F47B-9AB5-09BA-8F10-81083A258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129" y="1176335"/>
            <a:ext cx="11677394" cy="584599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Airlines Reduce The Gap Between Available Seats And Actual Passengers - Offer </a:t>
            </a:r>
            <a:r>
              <a:rPr lang="en-IN" sz="1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Last-minute Deals &amp; Loyalty Rewards</a:t>
            </a:r>
            <a:r>
              <a:rPr lang="en-IN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Unsold Inventory</a:t>
            </a:r>
          </a:p>
          <a:p>
            <a:pPr marL="571500" lvl="1" indent="0">
              <a:buNone/>
            </a:pP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-Implement </a:t>
            </a:r>
            <a:r>
              <a:rPr lang="en-IN" sz="1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 Models</a:t>
            </a: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Fill Empty Seats</a:t>
            </a:r>
          </a:p>
          <a:p>
            <a:pPr marL="114300" indent="0">
              <a:buNone/>
            </a:pPr>
            <a:r>
              <a:rPr lang="en-IN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Airlines Can Maintain Continuous Improvement By Follow This</a:t>
            </a:r>
          </a:p>
          <a:p>
            <a:pPr marL="571500" lvl="1" indent="0">
              <a:buNone/>
            </a:pP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Introduce </a:t>
            </a:r>
            <a:r>
              <a:rPr lang="en-IN" sz="1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Pricing Strategies</a:t>
            </a:r>
          </a:p>
          <a:p>
            <a:pPr marL="571500" lvl="1" indent="0">
              <a:buNone/>
            </a:pPr>
            <a:r>
              <a:rPr lang="en-IN" sz="1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External Factors (Economic Downturn, Fuel Prices)</a:t>
            </a:r>
          </a:p>
          <a:p>
            <a:pPr marL="114300" indent="0">
              <a:buNone/>
            </a:pPr>
            <a:r>
              <a:rPr lang="en-IN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Airlines Can Balance Short-haul And Long-haul Operations For Better Profitability.</a:t>
            </a:r>
          </a:p>
          <a:p>
            <a:pPr marL="571500" lvl="1" indent="0">
              <a:buNone/>
            </a:pP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Increase </a:t>
            </a:r>
            <a:r>
              <a:rPr lang="en-IN" sz="1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Long-haul Route Investment</a:t>
            </a: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Demand Exists. </a:t>
            </a:r>
          </a:p>
          <a:p>
            <a:pPr marL="571500" lvl="1" indent="0">
              <a:buNone/>
            </a:pP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Optimize Short-haul Routes Using </a:t>
            </a:r>
            <a:r>
              <a:rPr lang="en-IN" sz="1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Aircraft</a:t>
            </a:r>
          </a:p>
          <a:p>
            <a:pPr marL="571500" lvl="1" indent="0">
              <a:buNone/>
            </a:pP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-Introduce </a:t>
            </a:r>
            <a:r>
              <a:rPr lang="en-IN" sz="1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Hub-and-spoke Model</a:t>
            </a: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Connect Long-distance Travel</a:t>
            </a:r>
          </a:p>
          <a:p>
            <a:pPr marL="114300" indent="0">
              <a:buNone/>
            </a:pPr>
            <a:r>
              <a:rPr lang="en-IN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Airlines Can Achieve Higher Efficiency Despite Lower Passenger Volumes</a:t>
            </a:r>
          </a:p>
          <a:p>
            <a:pPr marL="571500" lvl="1" indent="0">
              <a:buNone/>
            </a:pP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Study </a:t>
            </a:r>
            <a:r>
              <a:rPr lang="en-IN" sz="1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Load Factor Carriers’ Scheduling Efficiency</a:t>
            </a:r>
          </a:p>
          <a:p>
            <a:pPr marL="571500" lvl="1" indent="0">
              <a:buNone/>
            </a:pP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-Improve </a:t>
            </a:r>
            <a:r>
              <a:rPr lang="en-IN" sz="1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Optimization And Turnaround Time</a:t>
            </a:r>
          </a:p>
          <a:p>
            <a:pPr marL="571500" lvl="1" indent="0">
              <a:buNone/>
            </a:pPr>
            <a:r>
              <a:rPr lang="en-IN" sz="1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 On </a:t>
            </a:r>
            <a:r>
              <a:rPr lang="en-IN" sz="1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High-demand Niche Markets</a:t>
            </a: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Volume Alone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9733891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27773-5ABE-2AE2-00D8-14314AB45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61" y="844912"/>
            <a:ext cx="9737457" cy="546943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IN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Airlines Can Reduce Dependency On A Limited Number Of High-traffic Routes.</a:t>
            </a:r>
          </a:p>
          <a:p>
            <a:pPr marL="571500" lvl="1" indent="0">
              <a:buNone/>
            </a:pP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-Monitor Route Profitability Continuously. </a:t>
            </a:r>
          </a:p>
          <a:p>
            <a:pPr marL="571500" lvl="1" indent="0">
              <a:buNone/>
            </a:pP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-Diversify Into </a:t>
            </a:r>
            <a:r>
              <a:rPr lang="en-IN" sz="1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And Underserved Routes</a:t>
            </a: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71500" lvl="1" indent="0">
              <a:buNone/>
            </a:pP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-Use </a:t>
            </a:r>
            <a:r>
              <a:rPr lang="en-IN" sz="1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Route Expansion Strategies</a:t>
            </a: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14300" indent="0">
              <a:buNone/>
            </a:pPr>
            <a:r>
              <a:rPr lang="en-IN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Airlines Can  Better Balance Demand Between Weekdays And Weekends.</a:t>
            </a:r>
          </a:p>
          <a:p>
            <a:pPr lvl="1">
              <a:buFontTx/>
              <a:buChar char="-"/>
            </a:pP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</a:t>
            </a:r>
            <a:r>
              <a:rPr lang="en-IN" sz="1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Discounts </a:t>
            </a: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Leisure Travellers</a:t>
            </a:r>
          </a:p>
          <a:p>
            <a:pPr lvl="1">
              <a:buFontTx/>
              <a:buChar char="-"/>
            </a:pP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Flight Schedules To Align With Peak Demand Times.</a:t>
            </a:r>
          </a:p>
          <a:p>
            <a:pPr marL="114300" indent="0">
              <a:buNone/>
            </a:pPr>
            <a:r>
              <a:rPr lang="en-IN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Airlines Can Optimize Route Networks To Maximize Flight Utilization?</a:t>
            </a:r>
          </a:p>
          <a:p>
            <a:pPr lvl="1">
              <a:buFontTx/>
              <a:buChar char="-"/>
            </a:pP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Frequency On High-demand Routes</a:t>
            </a:r>
          </a:p>
          <a:p>
            <a:pPr lvl="1">
              <a:buFontTx/>
              <a:buChar char="-"/>
            </a:pP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Or </a:t>
            </a:r>
            <a:r>
              <a:rPr lang="en-IN" sz="1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Restructure Low-demand Routes</a:t>
            </a: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Tx/>
              <a:buChar char="-"/>
            </a:pP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1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Hub-and-spoke Models </a:t>
            </a: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Consolidate Passengers Efficiently</a:t>
            </a:r>
          </a:p>
          <a:p>
            <a:pPr lvl="1">
              <a:buFontTx/>
              <a:buChar char="-"/>
            </a:pPr>
            <a:r>
              <a:rPr lang="en-IN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Dynamic Seat Allocation And Promotions During Low-demand Periods.</a:t>
            </a:r>
          </a:p>
        </p:txBody>
      </p:sp>
    </p:spTree>
    <p:extLst>
      <p:ext uri="{BB962C8B-B14F-4D97-AF65-F5344CB8AC3E}">
        <p14:creationId xmlns:p14="http://schemas.microsoft.com/office/powerpoint/2010/main" val="1719865701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Droplet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316</TotalTime>
  <Words>1365</Words>
  <Application>Microsoft Office PowerPoint</Application>
  <PresentationFormat>Widescreen</PresentationFormat>
  <Paragraphs>201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Aharoni</vt:lpstr>
      <vt:lpstr>Twentieth Century</vt:lpstr>
      <vt:lpstr>Century Gothic</vt:lpstr>
      <vt:lpstr>Times New Roman</vt:lpstr>
      <vt:lpstr>Calibri</vt:lpstr>
      <vt:lpstr>Arial</vt:lpstr>
      <vt:lpstr>Tw Cen MT</vt:lpstr>
      <vt:lpstr>Noto Sans Symbols</vt:lpstr>
      <vt:lpstr>Droplet</vt:lpstr>
      <vt:lpstr>Airline High Cloud Analysis  </vt:lpstr>
      <vt:lpstr>KPI 1- Date field   </vt:lpstr>
      <vt:lpstr>KPI-2 –Yearly , Monthly and Quartey Load factor %   </vt:lpstr>
      <vt:lpstr>KPI-3 – Load Factor % by Carrier  </vt:lpstr>
      <vt:lpstr>KPI-4 TOP 10 CARRIERS BASED ON PASSENGER PREFERENCE  </vt:lpstr>
      <vt:lpstr>KPI 5  TOP 10 ROUTES BY NUMBER OF FLIGHTS</vt:lpstr>
      <vt:lpstr>KPI 6- load factor on Weekend vs Weekdays.</vt:lpstr>
      <vt:lpstr>KPI 7-number of flights based on Distance group</vt:lpstr>
      <vt:lpstr> </vt:lpstr>
      <vt:lpstr>PowerPoint Presentation</vt:lpstr>
      <vt:lpstr>SQL Query</vt:lpstr>
      <vt:lpstr>Summary</vt:lpstr>
      <vt:lpstr>  Conclusion &amp; Solution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kalyani patange</dc:creator>
  <cp:lastModifiedBy>kalyani patange</cp:lastModifiedBy>
  <cp:revision>12</cp:revision>
  <dcterms:created xsi:type="dcterms:W3CDTF">2026-03-24T05:39:09Z</dcterms:created>
  <dcterms:modified xsi:type="dcterms:W3CDTF">2026-04-08T10:27:15Z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